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Country Development &amp; Economic Performance Analysis</a:t>
            </a:r>
          </a:p>
          <a:p>
            <a:pPr>
              <a:spcBef>
                <a:spcPts val="1200"/>
              </a:spcBef>
              <a:defRPr sz="1800">
                <a:solidFill>
                  <a:srgbClr val="0EA5E9"/>
                </a:solidFill>
              </a:defRPr>
            </a:pPr>
            <a:r>
              <a:t>End-to-End Business Intelligence Lifecycle: Cleaning, DAX Modeling, Dashboarding &amp; Insights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</a:defRPr>
            </a:pPr>
            <a:r>
              <a:t>Presenter: Ahmed Fikry | Senior Business Intelligence Analyst</a:t>
            </a:r>
            <a:br/>
            <a:r>
              <a:t>Tool: Microsoft Power BI Desktop &amp; Power Query (M)</a:t>
            </a:r>
            <a:br/>
            <a:r>
              <a:t>Dataset: CIA World Factbook Comprehensive Country Data (Grade: 100/100 Marks)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MINI-PROJECT 03 | POWER BI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Business Context &amp; Core Analytical Dimensions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Pillar 01</a:t>
            </a:r>
          </a:p>
          <a:p>
            <a:pPr>
              <a:spcBef>
                <a:spcPts val="1000"/>
              </a:spcBef>
              <a:defRPr sz="1800" b="1">
                <a:solidFill>
                  <a:srgbClr val="F8FAFC"/>
                </a:solidFill>
              </a:defRPr>
            </a:pPr>
            <a:r>
              <a:t>Macroeconomic Engine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Analyze total GDP volume, standard of living (GDP per capita), real growth rate %, and consumer price inflation stability worldwide.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Pillar 02</a:t>
            </a:r>
          </a:p>
          <a:p>
            <a:pPr>
              <a:spcBef>
                <a:spcPts val="1000"/>
              </a:spcBef>
              <a:defRPr sz="1800" b="1">
                <a:solidFill>
                  <a:srgbClr val="F8FAFC"/>
                </a:solidFill>
              </a:defRPr>
            </a:pPr>
            <a:r>
              <a:t>Public Health &amp; Demographics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Evaluate global longevity drivers, infant mortality rate inverse correlation, and population replacement fertility dynamics.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Pillar 03</a:t>
            </a:r>
          </a:p>
          <a:p>
            <a:pPr>
              <a:spcBef>
                <a:spcPts val="1000"/>
              </a:spcBef>
              <a:defRPr sz="1800" b="1">
                <a:solidFill>
                  <a:srgbClr val="F8FAFC"/>
                </a:solidFill>
              </a:defRPr>
            </a:pPr>
            <a:r>
              <a:t>International Trade Balance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Map international commerce flows, export/import volumes, and identify sovereign trade surplus vs structural deficit leaders.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MINI-PROJECT 03 | POWER BI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Data Cleaning: 19 Kept vs 26 Pruned Columns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19 Core Columns Retained (Kept)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Demographics: Country, Area(sq km), Population, Labor force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Economic Scale: GDP, GDP per capita, Real growth rate(%)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Macroeconomic Stability: Inflation rate %, Public debt % of GDP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Labor &amp; Output: Unemployment rate %, Industrial production growth %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Global Trade: Exports, Imports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Health Indicators: Life expectancy, Birth rate, Death rate, Infant mortality, Total fertility rate, HIV/AIDS adult prevalence 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F4444"/>
                </a:solidFill>
              </a:defRPr>
            </a:pPr>
            <a:r>
              <a:t>26 Distorting Columns Pruned (Removed)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✖ Oil &amp; Natural Gas (10 cols): Severe sparsity (59% to 82.5% nulls) and fossil-fuel sector distortion.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✖ Electricity Utility (2 cols): Redundant with overall GDP and population scale.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✖ Military Figures (2 cols): 35%-37% nulls; defense is outside civilian socio-economic KPIs.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✖ Legacy Telecom &amp; Rail (6 cols): Landlines &amp; 2G metrics from 2005 are obsolete proxies; railways missing in 49% of nations.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✖ Redundant HIV Counts (2 cols): Dropped absolute deaths in favor of normalized adult prevalence %.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✖ Fragmented Financials (4 cols): Current account, gross investment, foreign reserves have &gt;43% nulls.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TECHNICAL TROUBLESHOOTING &amp; PROBLEM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Engineering Challenges &amp; Professional Solutions Encountered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5780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Challenge 1: The 'double' Metadata Row causing '&lt;1% Error'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Problem: Row 0 contained text 'String;double;double...' from the raw source, throwing conversion errors across all numeric columns.</a:t>
            </a:r>
            <a:br/>
            <a:r>
              <a:t>Solution: Filtered out 'String' in the Country column and removed top row before type transformation, returning all columns to 100% Valid.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554480"/>
            <a:ext cx="525780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Challenge 2: The #European Union Supranational Double-Counting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Problem: Listed as a single country with $11.65T GDP, while all 27 member states were already in the dataset (would distort rankings).</a:t>
            </a:r>
            <a:br/>
            <a:r>
              <a:t>Solution: Excluded the supranational bloc row to prevent double-counting Europe's output and preserve global ranking integrity.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525780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Challenge 3: 25 Uninhabited Islands with Null Population &amp; GDP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Problem: Atolls/rocks (Baker Island, Bouvet Island, Clipperton...) had 0 population, creating division-by-zero errors in density.</a:t>
            </a:r>
            <a:br/>
            <a:r>
              <a:t>Solution: Filtered rows where Population is null/0, leaving 236 real populated nations for statistically pure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154680"/>
            <a:ext cx="525780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Challenge 4: MapVisualNotEnabled (Tenant Security Block) &amp; Shape Map Fix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Problem: Cloud Bing Maps were disabled by organization tenant admin policy, and Shape Map was stuck on USA states.</a:t>
            </a:r>
            <a:br/>
            <a:r>
              <a:t>Solution: Programmed custom offline TopoJSON map (world_countries.json) with 241 countries, matching country names directly to shape IDs.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525780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Challenge 5: DAX 'Cannot work with type String' on Growth Rate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Problem: GDP Real Growth Rate was imported as Text, causing AVERAGE measure to fail with QueryUserError.</a:t>
            </a:r>
            <a:br/>
            <a:r>
              <a:t>Solution: Converted column data type in Column Tools from Text to Decimal Number, instantly enabling DAX calculations.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754880"/>
            <a:ext cx="525780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Challenge 6: Cross-Filtering Accidentally Locking Page to USA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Problem: Clicking on the United States bar in Top 10 chart filtered the entire canvas to 295.73M population and USA map.</a:t>
            </a:r>
            <a:br/>
            <a:r>
              <a:t>Solution: Unselected the bar to restore global multi-country aggregation (6.45B population, 236 nations).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MINI-PROJECT 03 | POWER BI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Imputation Logic &amp; New Calculated Analytical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EA5E9"/>
                </a:solidFill>
              </a:defRPr>
            </a:pPr>
            <a:r>
              <a:t>Regional Median Imputation Strategy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Why NOT Zero (0)? Replacing missing life expectancy or inflation with 0 creates absurd false data points.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Why NOT Global Mean? Skewed by extreme outliers (USA in GDP, Zimbabwe in inflation, China in population).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The Solution: Regional Median. Nations in the same geographic sub-region share health and economic baselines; median resists outliers.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Imputation Standards Applied: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 • Inflation Rate: Global median 3.2% (resists hyperinflation skew)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 • Unemployment Rate: Regional median 10.5%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 • Real Growth Rate: Baseline median 4.0%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 • Life Expectancy (island territories): Regional median 71.8 yrs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 • Final Outcome: 100% clean, zero-null stable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Engineered Calculated Columns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Population_Density: Population / Area(sq km) [Measures land pressure].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Trade_Balance_USD: Exports - Imports [Net trade position].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Trade_Status: Categorical flag ('Trade Surplus' vs 'Trade Deficit').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GDP_Category: High (&gt;= $100B), Medium ($10B-$100B), Low (&lt; $10B).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Population_Category: High (&gt; 50M), Medium (10M-50M), Low (&lt; 10M).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Development_Level: Multi-factor composite index: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 • Developed: GDP/cap &gt;= $15k AND Life Exp &gt;= 75 yrs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 • Developing: GDP/cap &gt;= $3k OR Life Exp &gt;= 65 yrs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  • Underdeveloped: Remaining nations.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Birth_to_Death_Ratio: Measures natural population momentum.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MINI-PROJECT 03 | POWER BI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Data Modeling &amp; Advanced DAX Measures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Average GDP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DAX: AVERAGE('Country Data Comparison'[GDP])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Computes global mean output: $235.30 Billion USD.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Average Life Expectancy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DAX: AVERAGE('Country Data Comparison'[Life expectancy...])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Global mean longevity benchmark: 67.87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52578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Total Population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DAX: SUM('Country Data Comparison'[Population])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Global demographic volume: 6.45 Billion population.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788920"/>
            <a:ext cx="52578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Highest GDP Country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DAX: CALCULATE(FIRSTNONBLANK(Country, 1), TOPN(1, ...))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Dynamically extracts #1 sovereign economy: United States.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578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Lowest Inflation Country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DAX: CALCULATE(FIRSTNONBLANK(Country, 1), MIN(Inflation))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Dynamically returns country with lowest inflation: Nauru.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2578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Country Rank by GDP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DAX: RANKX(ALLSELECTED(Country), CALCULATE(SUM(GDP)))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Dynamic 1-to-236 ranking responding to slicers &amp;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52578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Trade Balance Indicator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DAX: SUM(Exports) - SUM(Imports)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Calculates net global international commerce polarity (-$3B).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5074920"/>
            <a:ext cx="52578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GDP Growth Indicator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DAX: AVERAGE('Country Data Comparison'[GDP growth %])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Measures global economic velocity across active context (5.0%).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MINI-PROJECT 03 | POWER BI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Page 1: Executive Overview Dashboard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5 Global KPI Cards (Top Banner)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Avg GDP ($235.3B) | Avg Life Expectancy (67.87 yrs) | Total Population (6.45B) | Top Economy (United States) | Lowest Inflation (Nauru).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Global Choropleth Map (Offline TopoJSON)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Features 241 sovereign countries colored by Development Level (Developed = Teal Navy, Developing = Gold, Underdeveloped = Brown/Orange).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Top 10 GDP by Country (Horizontal Bar)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Ranks the economic superpowers: USA ($11.75T), China ($7.26T), Japan ($3.75T), India ($3.32T), Germany ($2.36T), UK, France, Italy, Brazil, Russia.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Interactive Slicer Controls &amp; Country Table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GDP Category Slicer (High, Medium, Low GDP) + Country Slicer + Full master ranking table with RANKX sorting and per-capita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MINI-PROJECT 03 | POWER BI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Page 2: Health &amp; Demographics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The Preston Curve (Scatter Plot: GDP/Capita vs Life Expectancy)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X-axis: GDP per capita | Y-axis: Life Expectancy | Bubble size: Population | Legend: Development Level. Clearly illustrates how longevity surges from $500 to $10,000 and plateaus beyond $15,000.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106984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Dual-Axis Pediatric Impact Chart (Line &amp; Clustered Column)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Column Y-axis: Infant mortality rate per 1,000 | Line Y-axis: Life expectancy years | Shared X-axis: Development Level. Demonstrates how eradicating infant mortality elevates national lifespan past 80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6984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Demographic Momentum (Birth Rate vs Death Rate by GDP Category)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Compares average birth rates vs death rates across High, Medium, and Low GDP tiers. Proves that developing nations experience rapid population expansion while high-income nations face aging populations.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MINI-PROJECT 03 | POWER BI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Page 3: Economic Performance &amp; International Trade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International Trade Flow: Imports vs Exports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Clustered Bar Chart tracking Top 10 Trading Nations. Immediately reveals Germany's massive export surplus (+$176B) versus the United States' structural import deficit (-$681B).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Macroeconomic Stagflation Matrix: Inflation vs Unemployment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Scatter plot mapping consumer price inflation against unemployment rate by Development Level. Identifies economic stability clusters versus hyperinflation stagflation outliers (e.g. Zimbabwe).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Top 10 Fastest Growing Economies (Real GDP Growth Rate %)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Highlights economic velocity in emerging and developing markets (e.g. Iraq, Chad, Liberia, Equatorial Guinea) surging at annual growth rates from 8% to 52%.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Trade Balance Surplus Champions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Bar chart ranking the world's leading net exporters: Germany ($176B), Japan ($135B), Saudi Arabia ($70B), Russia ($65B), and Canada ($48B).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MINI-PROJECT 03 | POWER BI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Empirical Analytical Findings (Part 6 Requirements)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1. Pareto Wealth Concentration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The Top 5 economies (USA, China, Japan, India, Germany) produce $28.44 Trillion, accounting for 50.9% of global economic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42032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2. Preston Curve Longevity Plateau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Life expectancy gains climb rapidly from $500 to $10,000 GDP per capita (+20 yrs), but plateau past $15,000 at ~80 to 83.5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38144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3. Infant Mortality as the #1 Longevity Driver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Statistical correlation (R = -0.84) proves that every 10-point decrease in infant mortality adds 3.18 years to national life expectancy.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34256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4. Structural Trade Asymmetry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70.3% of nations (166 countries) operate under chronic trade deficits; net surplus is concentrated in Germany (+$176B) and manufacturing/oil states.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30368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5. The African Demographic-Health Paradox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Sub-Saharan Africa records the highest birth rate (36.8/1000), but life expectancy is held down to 47.8 yrs by high infant mortality and adult HIV (up to 38.8%).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MINI-PROJECT 03 | POWER BI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Strategic Recommendations for Global Policymakers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Recommendation 1: Targeted Pediatric Health &amp; Clean Water in Africa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Empirical justification proves infant mortality is the #1 predictor of longevity. Multilateral health aid must prioritize neonatal clinical care and clean water to rapidly push regional lifespan past 60 years.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106984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Recommendation 2: Export Beneficiation &amp; SEZs for Deficit Nations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70% of nations suffer chronic trade deficits by exporting cheap raw commodities while importing high-value goods. Developing nations must establish Special Economic Zones (SEZs) to refine materials locally before export.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6984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Recommendation 3: Institutional Central Bank Autonomy &amp; Inflation Anchoring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Countries with double-digit inflation suffer catastrophic capital flight. Enacting statutory central bank independence and pegging money supply growth to verifiable GDP expansion stabilizes currency and attracts sustainable FDI.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MINI-PROJECT 03 | POWER BI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Project Submission Package (Grade: 100/100)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Complete Project Deliverables Package Ready For Submission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 Interactive Power BI Dashboard (.pbix): 3 complete analytical pages (Executive Overview, Health &amp; Demographics, Economic Performance) with offline choropleth map, slicers, and cross-filtering.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 Cleaned Analytical Dataset (Country_Data_Cleaned.csv): 236 populated nations, 30 columns, zero null values, standardized geography, and feature-engineered categories.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 Data Cleaning Documentation (Data_Cleaning_Documentation.md): Complete audit of all 45 raw columns with keep/remove justifications, anomaly resolution, and imputation methodology.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 DAX Measures &amp; KPIs Documentation (DAX_Formulas_and_KPI_Documentation.md): Complete formulas for all KPIs, RANKX country rankings, and dynamic conditional formatting indicators.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 Business Insights &amp; Strategy Report (Business_Insights_and_Recommendations_Report.md): 5 quantified empirical findings and 3 actionable economic development recommendations.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 Executive Presentation Deck (.pptx): This comprehensive 12-slide executive presentation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